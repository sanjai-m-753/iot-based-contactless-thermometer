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68" r:id="rId2"/>
    <p:sldId id="270" r:id="rId3"/>
    <p:sldId id="271" r:id="rId4"/>
    <p:sldId id="275" r:id="rId5"/>
    <p:sldId id="276" r:id="rId6"/>
    <p:sldId id="286" r:id="rId7"/>
    <p:sldId id="277" r:id="rId8"/>
    <p:sldId id="278" r:id="rId9"/>
    <p:sldId id="281" r:id="rId10"/>
    <p:sldId id="282" r:id="rId11"/>
    <p:sldId id="285" r:id="rId12"/>
    <p:sldId id="283" r:id="rId13"/>
    <p:sldId id="274" r:id="rId14"/>
    <p:sldId id="28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E3D25E-7FC6-428F-A3D6-5813F177CC7E}" v="54" dt="2025-10-29T08:21:51.9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1070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77F67-5119-4C36-BD46-9DA3108255AB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CAB7EC-D061-4B37-9F6D-B5D92AC238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650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AB7EC-D061-4B37-9F6D-B5D92AC238F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942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28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91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51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717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00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44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242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33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54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44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42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591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9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257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100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930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88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D3EB87-2E0C-4A5F-BEF2-24A86E928D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F6BF5EE-DF1B-4553-BA21-C671209DE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58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tickpng.com/img/icons-logos-emojis/iconic-brands/ieee-logo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FEA5-52D3-2864-7514-537600250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8107" y="1646153"/>
            <a:ext cx="6822304" cy="2946867"/>
          </a:xfrm>
        </p:spPr>
        <p:txBody>
          <a:bodyPr>
            <a:normAutofit fontScale="90000"/>
          </a:bodyPr>
          <a:lstStyle/>
          <a:p>
            <a:pPr defTabSz="914400" eaLnBrk="0" fontAlgn="base" hangingPunct="0">
              <a:spcAft>
                <a:spcPct val="0"/>
              </a:spcAft>
            </a:pPr>
            <a:r>
              <a:rPr lang="en-US" altLang="en-US" sz="2000" b="1" dirty="0">
                <a:ln>
                  <a:noFill/>
                </a:ln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KIT-KALAIGNARKARUNANIDHI INSTITUTE OF TECHNOLOGY</a:t>
            </a:r>
            <a:br>
              <a:rPr lang="en-US" altLang="en-US" sz="180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Autonomous Institution, Coimbatore – 641402.            </a:t>
            </a:r>
            <a:br>
              <a:rPr lang="en-US" altLang="en-US" sz="180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ln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Affiliated to Anna University, Chennai</a:t>
            </a:r>
            <a:br>
              <a:rPr lang="en-US" altLang="en-US" sz="1800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6600" dirty="0">
                <a:ln>
                  <a:noFill/>
                </a:ln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1A646-1DCA-422C-46AC-9C9C403E3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0245" y="3933821"/>
            <a:ext cx="8337756" cy="151152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Presided By:                                       Under the guidance of: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1.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Suriya.S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Dr.M.Jayasheela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Sanjai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Prasath. M                                                  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Professor,BME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Sachin.R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image1.png">
            <a:extLst>
              <a:ext uri="{FF2B5EF4-FFF2-40B4-BE49-F238E27FC236}">
                <a16:creationId xmlns:a16="http://schemas.microsoft.com/office/drawing/2014/main" id="{F9CEAAF3-7BA9-DBBE-CC1E-DC60475D4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245" y="1803603"/>
            <a:ext cx="1132129" cy="1120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C9B1DB3-939B-F1D9-5D5B-4B202BDFC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B51E1D5-7599-4336-938A-8EB303EE0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385061"/>
              </p:ext>
            </p:extLst>
          </p:nvPr>
        </p:nvGraphicFramePr>
        <p:xfrm>
          <a:off x="2737620" y="3091184"/>
          <a:ext cx="6742791" cy="732663"/>
        </p:xfrm>
        <a:graphic>
          <a:graphicData uri="http://schemas.openxmlformats.org/drawingml/2006/table">
            <a:tbl>
              <a:tblPr firstRow="1" firstCol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6742791">
                  <a:extLst>
                    <a:ext uri="{9D8B030D-6E8A-4147-A177-3AD203B41FA5}">
                      <a16:colId xmlns:a16="http://schemas.microsoft.com/office/drawing/2014/main" val="3724753014"/>
                    </a:ext>
                  </a:extLst>
                </a:gridCol>
              </a:tblGrid>
              <a:tr h="5841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DESIGN OF IoT BASED THERMOMETER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ICEAMST-661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9027278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D1A2D74-4DE3-E46D-4464-A88B49F92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195602" y="1646153"/>
            <a:ext cx="1878604" cy="122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4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58BA3-89EE-6C22-5977-2B2862E9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466383" cy="1303868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CEFB2-75D6-0629-F623-897FD9144C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2549" y="3176227"/>
            <a:ext cx="9198523" cy="2258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IoT-based contactless thermometer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body temperature measurement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accurately and safely.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provides real-time monitoring, automatic alerts, and remote data access through IoT technology.</a:t>
            </a: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be portable, affordable, and hygienic, making it suitable for use in healthcare and public environments.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87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67D0E-A601-B387-2940-8AF823EAE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672297"/>
            <a:ext cx="9601196" cy="754379"/>
          </a:xfrm>
        </p:spPr>
        <p:txBody>
          <a:bodyPr>
            <a:normAutofit fontScale="90000"/>
          </a:bodyPr>
          <a:lstStyle/>
          <a:p>
            <a:r>
              <a:rPr lang="en-US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/>
            </a:b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6CA62B-2BE8-E31C-5D20-94CBF5A286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6570" y="2945154"/>
            <a:ext cx="942997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Body temperature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key indicator of human health and vital for early disease detection.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thermometers require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 contact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posing a risk of cross-contamination.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COVID-19 pandemic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emphasised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need for safe, contactless temperature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technology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real-time data acquisition, wireless communication, and remote health tracking.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ESP8266 and MLX90614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design a smart, portable, and accurate contactless thermometer</a:t>
            </a:r>
          </a:p>
        </p:txBody>
      </p:sp>
    </p:spTree>
    <p:extLst>
      <p:ext uri="{BB962C8B-B14F-4D97-AF65-F5344CB8AC3E}">
        <p14:creationId xmlns:p14="http://schemas.microsoft.com/office/powerpoint/2010/main" val="74172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B52FC-EF80-C227-8EBF-96A9F9AB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2" y="1001182"/>
            <a:ext cx="9601196" cy="1303867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014E7BA-D9FF-730E-AF16-9406295685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5414605"/>
              </p:ext>
            </p:extLst>
          </p:nvPr>
        </p:nvGraphicFramePr>
        <p:xfrm>
          <a:off x="1138237" y="2537112"/>
          <a:ext cx="9915525" cy="3507547"/>
        </p:xfrm>
        <a:graphic>
          <a:graphicData uri="http://schemas.openxmlformats.org/drawingml/2006/table">
            <a:tbl>
              <a:tblPr/>
              <a:tblGrid>
                <a:gridCol w="1983105">
                  <a:extLst>
                    <a:ext uri="{9D8B030D-6E8A-4147-A177-3AD203B41FA5}">
                      <a16:colId xmlns:a16="http://schemas.microsoft.com/office/drawing/2014/main" val="2023022566"/>
                    </a:ext>
                  </a:extLst>
                </a:gridCol>
                <a:gridCol w="1983105">
                  <a:extLst>
                    <a:ext uri="{9D8B030D-6E8A-4147-A177-3AD203B41FA5}">
                      <a16:colId xmlns:a16="http://schemas.microsoft.com/office/drawing/2014/main" val="2168302464"/>
                    </a:ext>
                  </a:extLst>
                </a:gridCol>
                <a:gridCol w="1983105">
                  <a:extLst>
                    <a:ext uri="{9D8B030D-6E8A-4147-A177-3AD203B41FA5}">
                      <a16:colId xmlns:a16="http://schemas.microsoft.com/office/drawing/2014/main" val="3987767455"/>
                    </a:ext>
                  </a:extLst>
                </a:gridCol>
                <a:gridCol w="1983105">
                  <a:extLst>
                    <a:ext uri="{9D8B030D-6E8A-4147-A177-3AD203B41FA5}">
                      <a16:colId xmlns:a16="http://schemas.microsoft.com/office/drawing/2014/main" val="2399077034"/>
                    </a:ext>
                  </a:extLst>
                </a:gridCol>
                <a:gridCol w="1983105">
                  <a:extLst>
                    <a:ext uri="{9D8B030D-6E8A-4147-A177-3AD203B41FA5}">
                      <a16:colId xmlns:a16="http://schemas.microsoft.com/office/drawing/2014/main" val="1628243564"/>
                    </a:ext>
                  </a:extLst>
                </a:gridCol>
              </a:tblGrid>
              <a:tr h="311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Current Work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804403"/>
                  </a:ext>
                </a:extLst>
              </a:tr>
              <a:tr h="714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M. Pires et al. (2025)</a:t>
                      </a:r>
                      <a:endParaRPr lang="fr-FR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low-power IoT system for continuous temperature monitoring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and stable readings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alert mechanism or portability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IoT-based remote temperature monitoring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338356"/>
                  </a:ext>
                </a:extLst>
              </a:tr>
              <a:tr h="580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H. Rahman et al. (2025)</a:t>
                      </a:r>
                      <a:endParaRPr lang="da-DK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an IoT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Thermologger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real-time data tracking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real-time temperature logging and analysis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portability and cloud alert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base for real-time cloud monitoring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358527"/>
                  </a:ext>
                </a:extLst>
              </a:tr>
              <a:tr h="580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P. Ramalingam et al. (2024)</a:t>
                      </a:r>
                      <a:endParaRPr lang="da-DK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a body temperature device using Wi-Fi microcontroller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temperature display and monitoring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cloud integration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for IoT-based handheld thermometer design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863625"/>
                  </a:ext>
                </a:extLst>
              </a:tr>
              <a:tr h="714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Molsom &amp; R. Biswas (2023)</a:t>
                      </a:r>
                      <a:endParaRPr lang="de-DE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contactless auto temperature detector for COVID-19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contactless measurement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installations, no mobility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Inspires IoT integration with alert systems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209687"/>
                  </a:ext>
                </a:extLst>
              </a:tr>
              <a:tr h="580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K. Mondal et al. (2021)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IoT monitoring with ESP8266 and Blynk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 temperature visualization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buzzer alert or data storage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Guides IoT-cloud connection with alert features</a:t>
                      </a:r>
                    </a:p>
                  </a:txBody>
                  <a:tcPr marL="44238" marR="44238" marT="22119" marB="221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193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28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7BBFC-B790-987F-9AC4-72E2A834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167" y="612302"/>
            <a:ext cx="9766850" cy="2258025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BEHIND THIS PROJECT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56D616-A46A-992B-216E-ECE8BAD0B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7983" y="2870327"/>
            <a:ext cx="9356033" cy="279704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motivation for this project was to make a temperature measurement simpler, faster, and smarter. I wanted to design a device that could work automatically without contact, giving accurate results in real time. The thought of using IoT technology to improve health monitoring and create a portable, low-cost, and user-friendly thermometer inspired me to develop this project.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883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8C5D-8774-3ED4-96F3-973B9A144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MODEL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D4C03-EC07-5E9D-1F97-6895FF7D4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temperature measurement systems mainly rely on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 contact-based thermometers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require physical contact with the human body. These systems are often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slow, less hygienic, and not suitable for continuous or mass screening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Most traditional devices only display readings locally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support automation, data storage, or remote monitoring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Even in some existing IoT-based systems,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alerts, portability, and cloud connectivity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limits their effectiveness in smart healthcare environments. As a result, the current systems fail to provide a complete and efficient solution for accurate and safe temperature monitoring.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795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6C1E-61CC-1FA1-624F-3EB80272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MODEL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2">
            <a:extLst>
              <a:ext uri="{FF2B5EF4-FFF2-40B4-BE49-F238E27FC236}">
                <a16:creationId xmlns:a16="http://schemas.microsoft.com/office/drawing/2014/main" id="{FF66E1B6-8820-CB49-63F9-C6DD75F866F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2660007"/>
            <a:ext cx="3160987" cy="283690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B04E1338-5043-47BB-366B-D252F38BD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098" y="2660007"/>
            <a:ext cx="609600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Power Subsystem (Li-Ion Battery + TP4056 Charger):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stable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3.3V supply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the entire circuit.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TP4056 charging module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safe charging of the Li-ion battery via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Type-C 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the system portable and rechargeable.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2.ESP8266 Microcontroller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Acts as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control unit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system.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ESP8266 also has built-in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Wi-Fi capability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enabling the data to be sent 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real-time.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reads temperature data from the sensor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I2C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protocol.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1CD78-6FB5-2B5F-BA2D-54AAD660683A}"/>
              </a:ext>
            </a:extLst>
          </p:cNvPr>
          <p:cNvSpPr txBox="1"/>
          <p:nvPr/>
        </p:nvSpPr>
        <p:spPr>
          <a:xfrm>
            <a:off x="990599" y="5496910"/>
            <a:ext cx="42172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BLOCK DIAGRAM OF THE        PROPOSED SYSTEM MODEL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628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671BF-3887-1CB3-529E-9A79BF647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MODEL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48D440D-48BE-85FA-63A1-AE13D61B1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951" y="2461682"/>
            <a:ext cx="10191750" cy="3967693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MLX90614 IR Temperature Sensor: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contactless infrared sensor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measures the body temperature of the person or object.</a:t>
            </a:r>
          </a:p>
          <a:p>
            <a:pPr lvl="1" algn="just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transmits the measured value to the ESP8266 through the I2C interface for processing and display.</a:t>
            </a:r>
          </a:p>
          <a:p>
            <a:pPr marL="0" indent="0" algn="just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OLED Display: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temperature readings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measured by the sensor.</a:t>
            </a:r>
          </a:p>
          <a:p>
            <a:pPr lvl="1" algn="just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 visual output for easy monitoring.</a:t>
            </a:r>
          </a:p>
          <a:p>
            <a:pPr marL="0" indent="0" algn="just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Cloud Server (Blynk):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the data from the ESP8266 via Wi-Fi and stores it for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 and data logging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continuous monitoring and analysis of temperature data.</a:t>
            </a:r>
          </a:p>
          <a:p>
            <a:pPr marL="0" indent="0" algn="just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Blynk App: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smartphone.</a:t>
            </a:r>
          </a:p>
          <a:p>
            <a:pPr lvl="1" algn="just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real-time temperature readings and alerts the user when the temperature crosses a set threshold.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794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0CB9D-C59D-F3F9-5442-E33DEB71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DAB8E-1643-6E3B-F2BE-3032E7645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68441"/>
            <a:ext cx="9601196" cy="331893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 OF THE PROPOSED SYSTEM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Initialise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serial communication, MLX90614 sensor, OLED display, Wi-Fi module, and connect to the Blynk cloud.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 read temperature values from the MLX90614 sensor through the I²C interface.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the current temperature on the OLED screen in Celsius.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temperature &gt; threshold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38°C), activate buzzer; else, keep the buzzer OFF.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 temperature and alert data to the Blynk cloud using virtual pins and repeat the process continuously.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599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5CBD-94CA-0357-F6AD-AA1A5433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312F12-B2C1-E53E-A41C-DA17C798BD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2439" y="2687582"/>
            <a:ext cx="5921786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Implementation:</a:t>
            </a: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Figure 2 shows the hardware implementation of the proposed system. For precise temperature monitoring, the concept combines a non-contact thermal sensor with a microprocessor that can connect to Wi-Fi. The user may see the measured data instantaneously on a small OLED display. A buzzer is included when readings are deemed abnormal. The entire gadget is powered by a 3.7V rechargeable battery, ensuring portability and continuous operation. Every part is safely housed in a portable 3D-printed model, demonstrating functionality and practical application for both personal and medical uses.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D03B7-F26D-BDEB-3498-06FD893AC2C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335" y="2731887"/>
            <a:ext cx="3143865" cy="2768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6B13EC-3B38-ABCF-1814-256C087F5331}"/>
              </a:ext>
            </a:extLst>
          </p:cNvPr>
          <p:cNvSpPr txBox="1"/>
          <p:nvPr/>
        </p:nvSpPr>
        <p:spPr>
          <a:xfrm>
            <a:off x="7305675" y="5324475"/>
            <a:ext cx="4561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FIGURE 2: HARDWARE IMPLEMENTATION 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OF THE PROPOSED SYSTEM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9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85AC-1B20-44A4-3BF8-918AD8DD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FD82C-2749-1987-D57B-0776E01C2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599" y="2671232"/>
            <a:ext cx="5153026" cy="33189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table shows the comparison of the proposed system and the conventional system with threshold status. From the table, it can be seen that with only a ±0.1°C difference, the comparison demonstrates how well the suggested approach matches the traditional system. Hence, The Proposed contactless temperature monitoring system for real-time patient evaluation has a high degree of accuracy and reliability.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1A8FE7-5E94-38E0-8BFD-6ECD05EA7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069034"/>
              </p:ext>
            </p:extLst>
          </p:nvPr>
        </p:nvGraphicFramePr>
        <p:xfrm>
          <a:off x="1295401" y="3321239"/>
          <a:ext cx="4201388" cy="267432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50347">
                  <a:extLst>
                    <a:ext uri="{9D8B030D-6E8A-4147-A177-3AD203B41FA5}">
                      <a16:colId xmlns:a16="http://schemas.microsoft.com/office/drawing/2014/main" val="1616384327"/>
                    </a:ext>
                  </a:extLst>
                </a:gridCol>
                <a:gridCol w="1050347">
                  <a:extLst>
                    <a:ext uri="{9D8B030D-6E8A-4147-A177-3AD203B41FA5}">
                      <a16:colId xmlns:a16="http://schemas.microsoft.com/office/drawing/2014/main" val="2898503050"/>
                    </a:ext>
                  </a:extLst>
                </a:gridCol>
                <a:gridCol w="1050347">
                  <a:extLst>
                    <a:ext uri="{9D8B030D-6E8A-4147-A177-3AD203B41FA5}">
                      <a16:colId xmlns:a16="http://schemas.microsoft.com/office/drawing/2014/main" val="3995914913"/>
                    </a:ext>
                  </a:extLst>
                </a:gridCol>
                <a:gridCol w="1050347">
                  <a:extLst>
                    <a:ext uri="{9D8B030D-6E8A-4147-A177-3AD203B41FA5}">
                      <a16:colId xmlns:a16="http://schemas.microsoft.com/office/drawing/2014/main" val="1792457341"/>
                    </a:ext>
                  </a:extLst>
                </a:gridCol>
              </a:tblGrid>
              <a:tr h="401124"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ID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 (°C)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System (°C)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 Status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52046492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P001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35.6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35.8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96691424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P002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36.2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36.4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04248025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P003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36.8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37.0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68580001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P004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37.1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37.2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Elevated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84986200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P005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37.5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37.6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 Fever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5562822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P006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38.0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38.1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Fever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73069615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P007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38.4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38.3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Fever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49730167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P008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39.0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39.1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Fever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86678873"/>
                  </a:ext>
                </a:extLst>
              </a:tr>
              <a:tr h="208008"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P009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39.5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39.6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Fever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63256935"/>
                  </a:ext>
                </a:extLst>
              </a:tr>
              <a:tr h="401124"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P010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40.0</a:t>
                      </a:r>
                      <a:endParaRPr lang="en-IN" sz="1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39.9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890" marR="31115" algn="just">
                        <a:lnSpc>
                          <a:spcPct val="107000"/>
                        </a:lnSpc>
                        <a:spcAft>
                          <a:spcPts val="780"/>
                        </a:spcAft>
                        <a:buNone/>
                      </a:pPr>
                      <a:r>
                        <a:rPr lang="en-IN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Temperature</a:t>
                      </a:r>
                      <a:endParaRPr lang="en-IN" sz="1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0575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DE8348-AD75-9A4F-6326-F8828EDFE9FC}"/>
              </a:ext>
            </a:extLst>
          </p:cNvPr>
          <p:cNvSpPr txBox="1"/>
          <p:nvPr/>
        </p:nvSpPr>
        <p:spPr>
          <a:xfrm>
            <a:off x="1295401" y="2576946"/>
            <a:ext cx="4201387" cy="66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COMPARISON OF THE PROPOSED SYSTEM AND THE CONVENTIONAL SYSTEM WITH THRESHOLD STATUS 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683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1245-69BC-4F7F-A6AC-79CB0801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9A4AF5B-4719-C58A-82B2-C6D70A2332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2" y="2830578"/>
            <a:ext cx="9282543" cy="2974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contactless body temperature monitoring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IoT.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MLX90614 sensor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ESP8266 module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 fast data transfer and reliable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Temperature values are shown on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OLED display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sent to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Blynk cloud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remote access.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device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portable, low-cost, and hygienic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suitable for public and healthcare use.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it achieves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smart, safe, and efficient solution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temperature screening.</a:t>
            </a:r>
          </a:p>
        </p:txBody>
      </p:sp>
    </p:spTree>
    <p:extLst>
      <p:ext uri="{BB962C8B-B14F-4D97-AF65-F5344CB8AC3E}">
        <p14:creationId xmlns:p14="http://schemas.microsoft.com/office/powerpoint/2010/main" val="437926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7DB40-E91A-23BB-D4E5-863706592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13E427-C4F5-2F28-4EA3-F8D651AAF4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2" y="2532867"/>
            <a:ext cx="10187607" cy="3671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L. M. Pires, J. Figueiredo, R. Martins, J. Nascimento, and J. Martins, “Design and Development of a Low-Power IoT System for Continuous Temperature Monitoring,”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3, p. 73, 2025.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M. H. Rahman, M. M. Reza, R. Ferdous,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Naderuzzaman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A. Kashem, “Development of an IoT-Based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Thermologger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Temperature Monitoring,”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and Cloud Computing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no. 2, pp. 28–37, 2025.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Nabão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“IoT-Based Real-Time Temperature Monitoring in Critical Environments,”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IGMin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Journal of Engineering and Technology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“Smart Health Monitoring System Based on Internet of Things,”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Neonatal Surgery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“A Portable IoT-Based Health Monitoring Framework Using ESP32 for Isolated and Home-Based Patient Care,”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ResearchGate Preprint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18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80128-7678-646B-758B-B0542B590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697" y="3101011"/>
            <a:ext cx="7649816" cy="147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80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C89625-2FCF-20A2-0E28-47F198CB277C}"/>
              </a:ext>
            </a:extLst>
          </p:cNvPr>
          <p:cNvSpPr txBox="1"/>
          <p:nvPr/>
        </p:nvSpPr>
        <p:spPr>
          <a:xfrm>
            <a:off x="2810273" y="2602232"/>
            <a:ext cx="619621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US" sz="8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97F628D-3E0A-FA11-ED81-9551364DF9DC}"/>
              </a:ext>
            </a:extLst>
          </p:cNvPr>
          <p:cNvCxnSpPr/>
          <p:nvPr/>
        </p:nvCxnSpPr>
        <p:spPr>
          <a:xfrm>
            <a:off x="1479754" y="5014452"/>
            <a:ext cx="92324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7A8489-0127-9912-0E93-FF6FE40E40DC}"/>
              </a:ext>
            </a:extLst>
          </p:cNvPr>
          <p:cNvSpPr txBox="1"/>
          <p:nvPr/>
        </p:nvSpPr>
        <p:spPr>
          <a:xfrm>
            <a:off x="4392578" y="4229622"/>
            <a:ext cx="6115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501620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439</TotalTime>
  <Words>1443</Words>
  <Application>Microsoft Office PowerPoint</Application>
  <PresentationFormat>Widescreen</PresentationFormat>
  <Paragraphs>152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Garamond</vt:lpstr>
      <vt:lpstr>Times New Roman</vt:lpstr>
      <vt:lpstr>Wingdings</vt:lpstr>
      <vt:lpstr>Organic</vt:lpstr>
      <vt:lpstr>KIT-KALAIGNARKARUNANIDHI INSTITUTE OF TECHNOLOGY An Autonomous Institution, Coimbatore – 641402.             Affiliated to Anna University, Chennai  </vt:lpstr>
      <vt:lpstr>OBJECTIVE</vt:lpstr>
      <vt:lpstr>INTRODUCTION </vt:lpstr>
      <vt:lpstr>LITERATURE SURVEY</vt:lpstr>
      <vt:lpstr>MOTIVATION BEHIND THIS PROJECT</vt:lpstr>
      <vt:lpstr>EXISTING SYSTEM MODEL</vt:lpstr>
      <vt:lpstr>PROPOSED SYSTEM MODEL</vt:lpstr>
      <vt:lpstr>PROPOSED SYSTEM MODEL</vt:lpstr>
      <vt:lpstr>PROPOSED SYSTEM MODEL</vt:lpstr>
      <vt:lpstr>RESULTS AND DISCUSSIONS</vt:lpstr>
      <vt:lpstr>RESULTS AND DISCUSSIONS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KIT-KALAIGNARKARUNANIDHI INSTITUTE OF TECHNOLOGY An Autonomous Institution, Coimbatore – 641402. Affiliated to Anna University, Chennai</dc:title>
  <dc:creator>SANJAI PRASATH M</dc:creator>
  <cp:lastModifiedBy>SANJAI PRASATH M</cp:lastModifiedBy>
  <cp:revision>9</cp:revision>
  <dcterms:created xsi:type="dcterms:W3CDTF">2025-08-22T13:13:04Z</dcterms:created>
  <dcterms:modified xsi:type="dcterms:W3CDTF">2025-11-01T10:37:05Z</dcterms:modified>
</cp:coreProperties>
</file>